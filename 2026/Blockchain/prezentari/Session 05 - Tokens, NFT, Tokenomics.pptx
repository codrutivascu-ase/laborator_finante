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11" Type="http://schemas.openxmlformats.org/officeDocument/2006/relationships/slide" Target="slides/slide5.xml"/><Relationship Id="rId22" Type="http://schemas.openxmlformats.org/officeDocument/2006/relationships/font" Target="fonts/Raleway-italic.fntdata"/><Relationship Id="rId10" Type="http://schemas.openxmlformats.org/officeDocument/2006/relationships/slide" Target="slides/slide4.xml"/><Relationship Id="rId21" Type="http://schemas.openxmlformats.org/officeDocument/2006/relationships/font" Target="fonts/Raleway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Raleway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9a381c327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59a381c327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9a381c327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59a381c327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59a381c327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59a381c327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59a381c327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59a381c327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59a381c327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59a381c327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9a381c327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59a381c327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59a381c327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59a381c327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59a381c327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59a381c327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59a381c327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59a381c327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59a381c327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59a381c327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59a381c327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59a381c327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9a381c327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59a381c327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9a381c327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9a381c327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5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7" name="Google Shape;77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" name="Google Shape;78;p1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" name="Google Shape;84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21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86" name="Google Shape;86;p21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7" name="Google Shape;8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2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91" name="Google Shape;91;p2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3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95" name="Google Shape;95;p23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2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5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Sessions 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Tokens, NFT, Tokenomics</a:t>
            </a:r>
            <a:endParaRPr/>
          </a:p>
        </p:txBody>
      </p:sp>
      <p:sp>
        <p:nvSpPr>
          <p:cNvPr id="104" name="Google Shape;104;p25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Blockchain Protocols and Decentralized Applications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Cryptocurrency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Fungible Tokens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 Fungible Tokens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Tokenomics</a:t>
            </a:r>
            <a:endParaRPr/>
          </a:p>
        </p:txBody>
      </p:sp>
      <p:sp>
        <p:nvSpPr>
          <p:cNvPr id="110" name="Google Shape;110;p2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Total market cap: 3.46T $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Bitcoin - 1.89T $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 15.000 tokens* tracked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20% of U.S. adults have invested in or traded cryptocurrencies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NFTs - 11B $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What do you think gives value to cryptocurrencies and tokens?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/>
              <a:t>* fungible</a:t>
            </a:r>
            <a:endParaRPr sz="1000"/>
          </a:p>
        </p:txBody>
      </p:sp>
      <p:sp>
        <p:nvSpPr>
          <p:cNvPr id="116" name="Google Shape;116;p2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Cryptocurrencies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>
            <p:ph idx="1" type="body"/>
          </p:nvPr>
        </p:nvSpPr>
        <p:spPr>
          <a:xfrm>
            <a:off x="311700" y="1152475"/>
            <a:ext cx="8520600" cy="38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Interchangeable assets (1 ETH = 1 ETH)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Native or non-native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Native: ETH, EGLD, SOL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Used to pay gas for blockchain usaged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Non-native: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ERC-20: USDT, WETH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ESDT: MEX, WEGLD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cases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Stablecoins - simulate fiat money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Governance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Utility tokens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Demo ERC-20 vs ESDT</a:t>
            </a:r>
            <a:endParaRPr/>
          </a:p>
        </p:txBody>
      </p:sp>
      <p:sp>
        <p:nvSpPr>
          <p:cNvPr id="122" name="Google Shape;122;p2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Fungible Tokens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11700" y="1152475"/>
            <a:ext cx="8520600" cy="38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Unique assets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Implementation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Ethereum: ERC-721/ERC-1155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MultiversX: ESDTs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cases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Digital art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Gaming assets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Certificates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Real estate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Demo (NFT Marketplace)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Brainstorming</a:t>
            </a:r>
            <a:endParaRPr/>
          </a:p>
        </p:txBody>
      </p:sp>
      <p:sp>
        <p:nvSpPr>
          <p:cNvPr id="128" name="Google Shape;128;p29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 Fungible Tokens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Token + economics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Fixed supply: Bitcoin 21M cap, MultiversX 31.42M EGLD;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Infinite supply: DOGE, Ethereum;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Inflationary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Dogecoin (DOGE) - 5B tokens minted annually;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Ethereum - EIP-1559 introduced burn mechanism - deflationary during high network activity;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MultiversX - case study on next slide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Deflationary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Bitcoin?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Binance Coin (BNB)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Shiba Inu (SHIB)</a:t>
            </a:r>
            <a:endParaRPr/>
          </a:p>
        </p:txBody>
      </p:sp>
      <p:sp>
        <p:nvSpPr>
          <p:cNvPr id="134" name="Google Shape;134;p30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Tokenomics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Study - MultiversX</a:t>
            </a:r>
            <a:endParaRPr/>
          </a:p>
        </p:txBody>
      </p:sp>
      <p:pic>
        <p:nvPicPr>
          <p:cNvPr id="140" name="Google Shape;14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7176" y="1068425"/>
            <a:ext cx="6889647" cy="401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Utility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Access, rewards, governance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Incentives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Staking Providers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Distribution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ICO - initial coin offering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Airdrops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Governance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Decentralized decision making based on token ownership</a:t>
            </a:r>
            <a:endParaRPr/>
          </a:p>
        </p:txBody>
      </p:sp>
      <p:sp>
        <p:nvSpPr>
          <p:cNvPr id="146" name="Google Shape;146;p32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Tokenomics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 BTC-ETH-MvX</a:t>
            </a:r>
            <a:endParaRPr/>
          </a:p>
        </p:txBody>
      </p:sp>
      <p:pic>
        <p:nvPicPr>
          <p:cNvPr id="152" name="Google Shape;15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20825"/>
            <a:ext cx="8839199" cy="3420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>
            <p:ph idx="1" type="body"/>
          </p:nvPr>
        </p:nvSpPr>
        <p:spPr>
          <a:xfrm>
            <a:off x="311700" y="1152475"/>
            <a:ext cx="8520600" cy="38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Supply Dynamics: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Fixed supply cap of 21 million BTC. No more BTC will ever be created once this cap is reached.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Block reward halving occurs approximately every 4 years, reducing new BTC issuance by 50%.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Estimated final BTC will be mined in the year 2140.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Utility: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Primarily a store of value ("digital gold").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Used for peer-to-peer payments.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Incentives: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Mining rewards decrease over time, encouraging long-term price appreciation due to scarcity.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Security is incentivized through transaction fees as block rewards diminish.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Distribution: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Early adopters and miners accumulated significant BTC; however, mining has become centralized due to the need for specialized hardware.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Challenges: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Lack of programmability limits its use cases beyond payments and store of value.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Environmental concerns due to Proof of Work mining.</a:t>
            </a:r>
            <a:endParaRPr/>
          </a:p>
        </p:txBody>
      </p:sp>
      <p:sp>
        <p:nvSpPr>
          <p:cNvPr id="158" name="Google Shape;158;p3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Bitcoin (BTC)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>
            <p:ph idx="1" type="body"/>
          </p:nvPr>
        </p:nvSpPr>
        <p:spPr>
          <a:xfrm>
            <a:off x="311700" y="1152475"/>
            <a:ext cx="8520600" cy="38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Supply Dynamics: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Initially had an uncapped supply, but with the introduction of EIP-1559, Ethereum implemented a burn mechanism that removes a portion of transaction fees from circulation.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The move to Proof of Stake (PoS) has significantly reduced new ETH issuance (approximately 0.43% inflation rate annually under current conditions).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Network activity directly influences whether ETH behaves inflationary or deflationary.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Utility: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Native token for gas fees on the Ethereum blockchain.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Powers smart contracts, decentralized applications (dApps), and DeFi ecosystems.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Incentives: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Validators earn rewards for securing the network in PoS.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Burn mechanism aligns user activity with token scarcity, potentially increasing value.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Distribution: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Initial distribution through an ICO in 2014.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Ongoing rewards to validators in PoS.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Challenges: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High transaction fees during network congestion.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Intense competition from newer Layer 1 blockchains offering scalability.</a:t>
            </a:r>
            <a:endParaRPr/>
          </a:p>
        </p:txBody>
      </p:sp>
      <p:sp>
        <p:nvSpPr>
          <p:cNvPr id="164" name="Google Shape;164;p3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Ethereum (ETH)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>
            <p:ph idx="1" type="body"/>
          </p:nvPr>
        </p:nvSpPr>
        <p:spPr>
          <a:xfrm>
            <a:off x="311700" y="1152475"/>
            <a:ext cx="8520600" cy="38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Supply Dynamics: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Fixed maximum supply of 31.4 million EGLD.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Supply decreases over time; in 10 years, no inflation.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Utility: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Used to pay for transaction fees on the MultiversX blockchain.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Staking rewards for network validators and delegators.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Acts as the base currency for ecosystem dApps, DeFi protocols, and NFT marketplaces.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Incentives: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Staking and delegation reward mechanisms ensure decentralization.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Distribution: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Started with a token swap (from ERD to EGLD) and an initial supply allocation to early investors, staking rewards, and ecosystem incentives.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Challenges: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Competes in a saturated market against Ethereum and other Layer 1 blockchains.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Ecosystem growth is key to sustaining value.</a:t>
            </a:r>
            <a:endParaRPr/>
          </a:p>
        </p:txBody>
      </p:sp>
      <p:sp>
        <p:nvSpPr>
          <p:cNvPr id="170" name="Google Shape;170;p3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MultiversX (EGLD)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>
            <p:ph idx="1" type="body"/>
          </p:nvPr>
        </p:nvSpPr>
        <p:spPr>
          <a:xfrm>
            <a:off x="311700" y="1152475"/>
            <a:ext cx="8520600" cy="38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UTK = 0.048$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can we provide a price to a token?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Demo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Create a token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Give it a value in $</a:t>
            </a:r>
            <a:endParaRPr/>
          </a:p>
        </p:txBody>
      </p:sp>
      <p:sp>
        <p:nvSpPr>
          <p:cNvPr id="176" name="Google Shape;176;p3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 Value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