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Raleway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aleway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Raleway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050714763a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050714763a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050714763a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050714763a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050714763a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050714763a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050714763a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050714763a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050714763a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050714763a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050714763a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050714763a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050714763a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050714763a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050714763a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050714763a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050714763a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050714763a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050714763a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050714763a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050714763a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050714763a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050714763a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050714763a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050714763a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050714763a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050714763a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050714763a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050714763a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050714763a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050714763a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050714763a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050714763a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050714763a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050714763a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050714763a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050714763a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050714763a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050714763a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050714763a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5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7" name="Google Shape;77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1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" name="Google Shape;84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21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86" name="Google Shape;86;p21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7" name="Google Shape;8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2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91" name="Google Shape;91;p2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3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95" name="Google Shape;95;p23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2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5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DeFi</a:t>
            </a:r>
            <a:endParaRPr/>
          </a:p>
        </p:txBody>
      </p:sp>
      <p:sp>
        <p:nvSpPr>
          <p:cNvPr id="104" name="Google Shape;104;p25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Blockchain Protocols and Decentralized Applications</a:t>
            </a:r>
            <a:endParaRPr/>
          </a:p>
        </p:txBody>
      </p:sp>
      <p:pic>
        <p:nvPicPr>
          <p:cNvPr id="105" name="Google Shape;10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96975" y="0"/>
            <a:ext cx="647024" cy="65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0377" y="0"/>
            <a:ext cx="1827873" cy="65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en"/>
              <a:t>Blockchain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Cool technology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Who is in control?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Who own it?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Decentralized control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cases?</a:t>
            </a:r>
            <a:endParaRPr/>
          </a:p>
        </p:txBody>
      </p:sp>
      <p:pic>
        <p:nvPicPr>
          <p:cNvPr id="113" name="Google Shape;11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96975" y="0"/>
            <a:ext cx="647024" cy="65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0377" y="0"/>
            <a:ext cx="1827873" cy="65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en"/>
              <a:t>TradFi - Payments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Classic payment: actors?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Trust actors: bank, payment processor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Issues: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Extra cost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Reliability issues (lack of availability, loss of funds)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Positive side: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Guarantee Funds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Regulations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en"/>
              <a:t>TradFi - Monetary policies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Government/Banks powerful decisions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Print money - inflation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Allow Borrowing?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Establishing the lending/borrowing rate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Stop you from having a bank account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Lock your funds/assets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Payments over 5000 RON must be vetted/approved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business considered not legit, block access to banks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Ex: medicinal purposes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en"/>
              <a:t>DeFi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7413" y="1068424"/>
            <a:ext cx="6789176" cy="33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0"/>
          <p:cNvSpPr txBox="1"/>
          <p:nvPr/>
        </p:nvSpPr>
        <p:spPr>
          <a:xfrm>
            <a:off x="3312350" y="4183800"/>
            <a:ext cx="3555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https://appinventiv.com/blog/defi-vs-cefi/</a:t>
            </a:r>
            <a:endParaRPr sz="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</a:t>
            </a:r>
            <a:endParaRPr/>
          </a:p>
        </p:txBody>
      </p:sp>
      <p:sp>
        <p:nvSpPr>
          <p:cNvPr id="144" name="Google Shape;144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Logic in Smart Contracts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Decision Factor -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Open to anyone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“blind trust” needed - just read the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DeFi Cost -&gt; Blockchain Cost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Custody: ownership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Components: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Cryptography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Blockchain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Smart Contracts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</a:t>
            </a:r>
            <a:endParaRPr/>
          </a:p>
        </p:txBody>
      </p:sp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Permissionless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necessary approval/acceptance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Increased Accessibility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Trustless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Transparent decision making - code is king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Public Verification: Transparent for </a:t>
            </a:r>
            <a:r>
              <a:rPr b="1" lang="en"/>
              <a:t>ALL</a:t>
            </a:r>
            <a:r>
              <a:rPr lang="en"/>
              <a:t> transactions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Immutability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Code is law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</a:t>
            </a:r>
            <a:endParaRPr/>
          </a:p>
        </p:txBody>
      </p:sp>
      <p:sp>
        <p:nvSpPr>
          <p:cNvPr id="156" name="Google Shape;156;p33"/>
          <p:cNvSpPr txBox="1"/>
          <p:nvPr>
            <p:ph idx="1" type="body"/>
          </p:nvPr>
        </p:nvSpPr>
        <p:spPr>
          <a:xfrm>
            <a:off x="311700" y="1152475"/>
            <a:ext cx="8520600" cy="379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Stablecoins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DAI, TETHER, USDC - 1$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Mint/Burn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Lending and Borrowing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Collateral</a:t>
            </a:r>
            <a:r>
              <a:rPr lang="en"/>
              <a:t>: TradFi vs DeFi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Legal bound of payback</a:t>
            </a:r>
            <a:r>
              <a:rPr lang="en"/>
              <a:t>: TradFi vs DeFi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Trust</a:t>
            </a:r>
            <a:r>
              <a:rPr lang="en"/>
              <a:t> </a:t>
            </a:r>
            <a:r>
              <a:rPr b="1" lang="en"/>
              <a:t>actor</a:t>
            </a:r>
            <a:r>
              <a:rPr lang="en"/>
              <a:t>: TradFi vs DeFi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Decentralized Exchanges (DEX)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High Fees on exchanges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Automated Market Makers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Insurance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Decision making is written in code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Farming example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Stablecoins</a:t>
            </a:r>
            <a:endParaRPr/>
          </a:p>
        </p:txBody>
      </p:sp>
      <p:sp>
        <p:nvSpPr>
          <p:cNvPr id="162" name="Google Shape;162;p34"/>
          <p:cNvSpPr txBox="1"/>
          <p:nvPr/>
        </p:nvSpPr>
        <p:spPr>
          <a:xfrm>
            <a:off x="3684000" y="4683750"/>
            <a:ext cx="1776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https://coin98.net/stablecoin-analysis</a:t>
            </a:r>
            <a:endParaRPr sz="700"/>
          </a:p>
        </p:txBody>
      </p:sp>
      <p:pic>
        <p:nvPicPr>
          <p:cNvPr id="163" name="Google Shape;16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3851" y="1220825"/>
            <a:ext cx="6156308" cy="3462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Stablecoins</a:t>
            </a:r>
            <a:endParaRPr/>
          </a:p>
        </p:txBody>
      </p:sp>
      <p:sp>
        <p:nvSpPr>
          <p:cNvPr id="169" name="Google Shape;169;p35"/>
          <p:cNvSpPr txBox="1"/>
          <p:nvPr/>
        </p:nvSpPr>
        <p:spPr>
          <a:xfrm>
            <a:off x="3694063" y="4683750"/>
            <a:ext cx="1755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https://coin98.net/stablecoin-analysis</a:t>
            </a:r>
            <a:endParaRPr sz="700"/>
          </a:p>
        </p:txBody>
      </p:sp>
      <p:pic>
        <p:nvPicPr>
          <p:cNvPr id="170" name="Google Shape;17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9313" y="1068425"/>
            <a:ext cx="5885379" cy="331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Lending and Borrowing</a:t>
            </a:r>
            <a:endParaRPr/>
          </a:p>
        </p:txBody>
      </p:sp>
      <p:pic>
        <p:nvPicPr>
          <p:cNvPr id="176" name="Google Shape;17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5138" y="1068425"/>
            <a:ext cx="5413730" cy="377027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6"/>
          <p:cNvSpPr txBox="1"/>
          <p:nvPr/>
        </p:nvSpPr>
        <p:spPr>
          <a:xfrm>
            <a:off x="3262350" y="4683750"/>
            <a:ext cx="2619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https://www.yield.app/blog/defi-lending-and-borrowing-guide</a:t>
            </a:r>
            <a:endParaRPr sz="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CEX vs DEX</a:t>
            </a:r>
            <a:endParaRPr/>
          </a:p>
        </p:txBody>
      </p:sp>
      <p:sp>
        <p:nvSpPr>
          <p:cNvPr id="183" name="Google Shape;183;p37"/>
          <p:cNvSpPr txBox="1"/>
          <p:nvPr/>
        </p:nvSpPr>
        <p:spPr>
          <a:xfrm>
            <a:off x="2372550" y="4683750"/>
            <a:ext cx="4398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https://medium.com/veniceswap/dex-why-the-decentralized-exchange-is-so-interesting-7b716cd0a5b5</a:t>
            </a:r>
            <a:endParaRPr sz="700"/>
          </a:p>
        </p:txBody>
      </p:sp>
      <p:pic>
        <p:nvPicPr>
          <p:cNvPr id="184" name="Google Shape;18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9100" y="1220825"/>
            <a:ext cx="4965789" cy="3310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CEX vs DEX</a:t>
            </a:r>
            <a:endParaRPr/>
          </a:p>
        </p:txBody>
      </p:sp>
      <p:sp>
        <p:nvSpPr>
          <p:cNvPr id="190" name="Google Shape;190;p38"/>
          <p:cNvSpPr txBox="1"/>
          <p:nvPr/>
        </p:nvSpPr>
        <p:spPr>
          <a:xfrm>
            <a:off x="2372550" y="4683750"/>
            <a:ext cx="4801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https://www.getsmarter.com/blog/market-trends/how-decentralised-exchanges-will-affect-the-cryptocurrency-market/</a:t>
            </a:r>
            <a:endParaRPr sz="700"/>
          </a:p>
        </p:txBody>
      </p:sp>
      <p:pic>
        <p:nvPicPr>
          <p:cNvPr id="191" name="Google Shape;19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2924" y="445026"/>
            <a:ext cx="3173918" cy="4158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9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DEX - Liquidity Providers</a:t>
            </a:r>
            <a:endParaRPr/>
          </a:p>
        </p:txBody>
      </p:sp>
      <p:pic>
        <p:nvPicPr>
          <p:cNvPr id="197" name="Google Shape;19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437" y="1248126"/>
            <a:ext cx="8127137" cy="356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9"/>
          <p:cNvSpPr txBox="1"/>
          <p:nvPr/>
        </p:nvSpPr>
        <p:spPr>
          <a:xfrm>
            <a:off x="2825575" y="4808325"/>
            <a:ext cx="300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https://blog.kaiko.com/dexs-diving-into-the-data-5addddd9dd7b</a:t>
            </a:r>
            <a:endParaRPr sz="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0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DEX</a:t>
            </a:r>
            <a:endParaRPr/>
          </a:p>
        </p:txBody>
      </p:sp>
      <p:sp>
        <p:nvSpPr>
          <p:cNvPr id="204" name="Google Shape;204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Actors: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Liquidity Providers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Users wanting to swap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Swap = Transaction on Blockchain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Fees: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Fee for transaction (goes to validators)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Fee for swapping (goes to liquidity providers)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DEX</a:t>
            </a:r>
            <a:endParaRPr/>
          </a:p>
        </p:txBody>
      </p:sp>
      <p:sp>
        <p:nvSpPr>
          <p:cNvPr id="210" name="Google Shape;210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Demo: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Swap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Create our token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Put a price on our token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Lending &amp; Borrowing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2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en"/>
              <a:t>CEX</a:t>
            </a:r>
            <a:endParaRPr/>
          </a:p>
        </p:txBody>
      </p:sp>
      <p:sp>
        <p:nvSpPr>
          <p:cNvPr id="216" name="Google Shape;216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Exchange platforms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Know Your Customer (KYC)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Anti Money Laundering (AML)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Customer support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Automated Market Makers</a:t>
            </a:r>
            <a:endParaRPr/>
          </a:p>
        </p:txBody>
      </p:sp>
      <p:sp>
        <p:nvSpPr>
          <p:cNvPr id="222" name="Google Shape;222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Sell token A, buy token 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Exchange RON to EUR -&gt; sell RON, buy EUR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CEX  exchange rate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Central entity (BNR, Dristor Exchange)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Demand and Offer (stock prices)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User finds price acceptable -&gt; performs transaction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DEX - exchange rate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Algorithm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Automated Market Makers</a:t>
            </a:r>
            <a:endParaRPr/>
          </a:p>
        </p:txBody>
      </p:sp>
      <p:pic>
        <p:nvPicPr>
          <p:cNvPr id="228" name="Google Shape;22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4225" y="1068425"/>
            <a:ext cx="6675551" cy="3770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