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aleway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7" Type="http://schemas.openxmlformats.org/officeDocument/2006/relationships/font" Target="fonts/Raleway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5ec81ccce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5ec81ccce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5ec81ccce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5ec81ccce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5ec81ccce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55ec81ccce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5ec81ccce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55ec81ccce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69f4d7f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69f4d7f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5ec81ccce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5ec81ccce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5ec81ccce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5ec81ccce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5ec81ccce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55ec81ccce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5ec81ccce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5ec81ccce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69f4d7fe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69f4d7fe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5ec81ccce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5ec81ccce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69f4d7fef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69f4d7fef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55ec81ccce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55ec81ccce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5ec81ccce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55ec81ccce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55ec81ccce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55ec81ccce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5ec81ccce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5ec81ccce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5ec81ccce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5ec81ccce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21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6" name="Google Shape;86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3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23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(g3d69f4d7fef_8_0)">
  <p:cSld name="Main point (g3d69f4d7fef_8_0)">
    <p:bg>
      <p:bgPr>
        <a:solidFill>
          <a:schemeClr val="accen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2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bitcointalk.org/index.php?topic=137.msg1195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bitcointalk.org/index.php?topic=137.msg1195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bitcointalk.org/index.php?topic=137.msg1195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Blockchain</a:t>
            </a:r>
            <a:endParaRPr/>
          </a:p>
        </p:txBody>
      </p:sp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Blockchain Protocols and Decentralized Applications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Objectives</a:t>
            </a:r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Understand the fundamental principles of blockchain technology;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Differentiate between various blockchain protocols and their use cases;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 and deploy tokens, smart contracts on platforms like Ethereum and Arbitrum (bonus other chains);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Explore tokenomics and its impact on decentralized finance.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decentralized applications (dApps) integrating blockchain features.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Understand and interact with DeFi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 </a:t>
            </a:r>
            <a:endParaRPr/>
          </a:p>
        </p:txBody>
      </p:sp>
      <p:sp>
        <p:nvSpPr>
          <p:cNvPr id="124" name="Google Shape;12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Science &amp; Technology of Blockchain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experience vs Developer experience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about: hype, investment, trading, getting rich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Decentralization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web3?</a:t>
            </a:r>
            <a:endParaRPr/>
          </a:p>
        </p:txBody>
      </p:sp>
      <p:sp>
        <p:nvSpPr>
          <p:cNvPr id="135" name="Google Shape;13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first era of the modern internet — roughly 1990-2005 — was about open protocols that were decentralized and community-governed. Most of the value accrued to the edges of the network: users and builders.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second era of the internet — roughly 2005-2020 — was about siloed, centralized services. Most of the value accrued to a handful of large tech companies.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We are now beginning the third era of the internet — what many call web3 — which combines the decentralized, community governed ethos of the first era with the advanced, modern functionality of the second era. This will unlock a new wave of creativity and entrepreneurship.</a:t>
            </a:r>
            <a:endParaRPr/>
          </a:p>
        </p:txBody>
      </p:sp>
      <p:sp>
        <p:nvSpPr>
          <p:cNvPr id="136" name="Google Shape;136;p31"/>
          <p:cNvSpPr txBox="1"/>
          <p:nvPr/>
        </p:nvSpPr>
        <p:spPr>
          <a:xfrm>
            <a:off x="1277400" y="4652925"/>
            <a:ext cx="755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Source: https://cdixon.mirror.xyz/0GBv9WRI-LQE6F4r2gGczG6AVeFlNuvt3HETHZ5A93U</a:t>
            </a:r>
            <a:endParaRPr sz="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Web3</a:t>
            </a:r>
            <a:endParaRPr/>
          </a:p>
        </p:txBody>
      </p:sp>
      <p:pic>
        <p:nvPicPr>
          <p:cNvPr id="142" name="Google Shape;14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77463"/>
            <a:ext cx="9144000" cy="318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174850" y="4735525"/>
            <a:ext cx="335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Source: ©2022 Andreessen Horowitz. All rights reserved worldwide</a:t>
            </a:r>
            <a:endParaRPr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Web3</a:t>
            </a:r>
            <a:endParaRPr/>
          </a:p>
        </p:txBody>
      </p:sp>
      <p:pic>
        <p:nvPicPr>
          <p:cNvPr id="149" name="Google Shape;14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0825"/>
            <a:ext cx="8839199" cy="338460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3"/>
          <p:cNvSpPr txBox="1"/>
          <p:nvPr/>
        </p:nvSpPr>
        <p:spPr>
          <a:xfrm>
            <a:off x="174850" y="4735525"/>
            <a:ext cx="335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Source: ©2022 Andreessen Horowitz. All rights reserved worldwide</a:t>
            </a:r>
            <a:endParaRPr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Blockchain	</a:t>
            </a:r>
            <a:endParaRPr/>
          </a:p>
        </p:txBody>
      </p:sp>
      <p:sp>
        <p:nvSpPr>
          <p:cNvPr id="156" name="Google Shape;15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that: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No one owns it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Anyone can use it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cases: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Money: Bitcoin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Computer: Ethereum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Filesystem: Filecoin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Exchange: Uniswap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5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E2B97"/>
                </a:solidFill>
                <a:latin typeface="Raleway"/>
                <a:ea typeface="Raleway"/>
                <a:cs typeface="Raleway"/>
                <a:sym typeface="Raleway"/>
              </a:rPr>
              <a:t>Decentralization - Good or bad?</a:t>
            </a:r>
            <a:endParaRPr b="1" sz="3600">
              <a:solidFill>
                <a:srgbClr val="5E2B97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62" name="Google Shape;162;p35"/>
          <p:cNvGrpSpPr/>
          <p:nvPr/>
        </p:nvGrpSpPr>
        <p:grpSpPr>
          <a:xfrm>
            <a:off x="376238" y="1328738"/>
            <a:ext cx="8391600" cy="3248100"/>
            <a:chOff x="376238" y="1328738"/>
            <a:chExt cx="8391600" cy="3248100"/>
          </a:xfrm>
        </p:grpSpPr>
        <p:pic>
          <p:nvPicPr>
            <p:cNvPr descr="A conceptual, high-quality professional graphic representing a choice between a positive path (vibrant, organized, green growth) and a negative path (chaotic, dark, red decline), with a central fork in a road or a symbolic gateway. Modern corporate style." id="163" name="Google Shape;163;p35"/>
            <p:cNvPicPr preferRelativeResize="0"/>
            <p:nvPr/>
          </p:nvPicPr>
          <p:blipFill rotWithShape="1">
            <a:blip r:embed="rId4">
              <a:alphaModFix/>
            </a:blip>
            <a:srcRect b="15660" l="0" r="0" t="15654"/>
            <a:stretch/>
          </p:blipFill>
          <p:spPr>
            <a:xfrm>
              <a:off x="381000" y="1333500"/>
              <a:ext cx="8382000" cy="3238500"/>
            </a:xfrm>
            <a:prstGeom prst="roundRect">
              <a:avLst>
                <a:gd fmla="val 5882" name="adj"/>
              </a:avLst>
            </a:prstGeom>
            <a:noFill/>
            <a:ln>
              <a:noFill/>
            </a:ln>
          </p:spPr>
        </p:pic>
        <p:pic>
          <p:nvPicPr>
            <p:cNvPr id="164" name="Google Shape;164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76238" y="1328738"/>
              <a:ext cx="8391600" cy="32481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Blockchain - Positive sides</a:t>
            </a:r>
            <a:endParaRPr/>
          </a:p>
        </p:txBody>
      </p:sp>
      <p:sp>
        <p:nvSpPr>
          <p:cNvPr id="170" name="Google Shape;17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Trustless Transactions - No need for intermediaries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Enhanced Security - Cryptographic principles ensure data integrity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Transparency - All transactions are publicly recorded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Efficiency - Streamlined processes reduce costs and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 - Enables new business models and applications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Blockchain - Negative sides</a:t>
            </a:r>
            <a:endParaRPr/>
          </a:p>
        </p:txBody>
      </p:sp>
      <p:sp>
        <p:nvSpPr>
          <p:cNvPr id="176" name="Google Shape;17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Scalability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Lack of Recourse</a:t>
            </a:r>
            <a:r>
              <a:rPr lang="en"/>
              <a:t> - No “Forgot password”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Governance</a:t>
            </a:r>
            <a:r>
              <a:rPr lang="en"/>
              <a:t> - Who makes the calls?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Efficiency - One action made by multiple entities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Bitcoin &amp; Pizza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Bitcoin</a:t>
            </a:r>
            <a:endParaRPr/>
          </a:p>
        </p:txBody>
      </p:sp>
      <p:sp>
        <p:nvSpPr>
          <p:cNvPr id="187" name="Google Shape;187;p39"/>
          <p:cNvSpPr txBox="1"/>
          <p:nvPr>
            <p:ph idx="1" type="body"/>
          </p:nvPr>
        </p:nvSpPr>
        <p:spPr>
          <a:xfrm>
            <a:off x="311700" y="1152475"/>
            <a:ext cx="8520600" cy="38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https://bitcointalk.org/index.php?topic=137.msg1195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May 18, 2010, 12:35:20 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/>
              <a:t>“I'll pay 10,000 bitcoins for a couple of pizzas.. like maybe 2 large ones so I have some left over for the next day.  I like having left over pizza to nibble on later.  You can make the pizza yourself and bring it to my house or order it for me from a delivery place, but what I'm aiming for is getting food delivered in exchange for bitcoins where I don't have to order or prepare it myself, kind of like ordering a 'breakfast platter' at a hotel or something, they just bring you something to eat and you're happy!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/>
              <a:t>I like things like onions, peppers, sausage, mushrooms, tomatoes, pepperoni, etc.. just standard stuff no weird fish topping or anything like that.  I also like regular cheese pizzas which may be cheaper to prepare or otherwise acquire.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i="1" lang="en"/>
              <a:t>If you're interested please let me know and we can work out a deal.”</a:t>
            </a:r>
            <a:endParaRPr i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Bitcoin</a:t>
            </a:r>
            <a:endParaRPr/>
          </a:p>
        </p:txBody>
      </p:sp>
      <p:sp>
        <p:nvSpPr>
          <p:cNvPr id="193" name="Google Shape;193;p40"/>
          <p:cNvSpPr txBox="1"/>
          <p:nvPr>
            <p:ph idx="1" type="body"/>
          </p:nvPr>
        </p:nvSpPr>
        <p:spPr>
          <a:xfrm>
            <a:off x="311700" y="1152475"/>
            <a:ext cx="8520600" cy="38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https://bitcointalk.org/index.php?topic=137.msg1195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May 21, 2010, 07:06:58 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/>
              <a:t>“So nobody wants to buy me pizza? Is the bitcoin amount I'm offering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/>
              <a:t>too low?”</a:t>
            </a:r>
            <a:endParaRPr i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Bitcoin</a:t>
            </a:r>
            <a:endParaRPr/>
          </a:p>
        </p:txBody>
      </p:sp>
      <p:sp>
        <p:nvSpPr>
          <p:cNvPr id="199" name="Google Shape;199;p41"/>
          <p:cNvSpPr txBox="1"/>
          <p:nvPr>
            <p:ph idx="1" type="body"/>
          </p:nvPr>
        </p:nvSpPr>
        <p:spPr>
          <a:xfrm>
            <a:off x="311700" y="1152475"/>
            <a:ext cx="8520600" cy="38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https://bitcointalk.org/index.php?topic=137.msg1195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May 22, 2010, 07:17:26 PM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/>
              <a:t>“I just want to report that I successfully traded 10,000 bitcoins for pizza.”</a:t>
            </a:r>
            <a:endParaRPr i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Bitcoin - Medium of Exchange</a:t>
            </a:r>
            <a:endParaRPr/>
          </a:p>
        </p:txBody>
      </p:sp>
      <p:sp>
        <p:nvSpPr>
          <p:cNvPr id="205" name="Google Shape;205;p42"/>
          <p:cNvSpPr txBox="1"/>
          <p:nvPr>
            <p:ph idx="1" type="body"/>
          </p:nvPr>
        </p:nvSpPr>
        <p:spPr>
          <a:xfrm>
            <a:off x="311700" y="1152475"/>
            <a:ext cx="8520600" cy="38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 22, 2010 - $41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$20.50 per pizza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Oct 3, 2024 - $600.000.000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$300.000.000 per pizza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